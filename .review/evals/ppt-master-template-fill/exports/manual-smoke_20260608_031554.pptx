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Masters/slideMaster2.xml" ContentType="application/vnd.openxmlformats-officedocument.presentationml.slideMaster+xml"/>
  <ns0:Override PartName="/ppt/notesMasters/notesMaster1.xml" ContentType="application/vnd.openxmlformats-officedocument.presentationml.notesMaster+xml"/>
  <ns0:Override PartName="/ppt/tags/tag1.xml" ContentType="application/vnd.openxmlformats-officedocument.presentationml.tags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theme/theme2.xml" ContentType="application/vnd.openxmlformats-officedocument.theme+xml"/>
  <ns0:Override PartName="/ppt/theme/theme3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  <ns0:Override PartName="/ppt/theme/themeOverride1_tf1.xml" ContentType="application/vnd.openxmlformats-officedocument.themeOverride+xml"/>
  <ns0:Override PartName="/ppt/slides/slide25.xml" ContentType="application/vnd.openxmlformats-officedocument.presentationml.slide+xml"/>
  <ns0:Override PartName="/ppt/notesSlides/notesSlide25.xml" ContentType="application/vnd.openxmlformats-officedocument.presentationml.notesSlide+xml"/>
  <ns0:Override PartName="/ppt/theme/themeOverride2_tf1.xml" ContentType="application/vnd.openxmlformats-officedocument.themeOverride+xml"/>
  <ns0:Override PartName="/ppt/slides/slide26.xml" ContentType="application/vnd.openxmlformats-officedocument.presentationml.slide+xml"/>
  <ns0:Override PartName="/ppt/theme/themeOverride3_tf1.xml" ContentType="application/vnd.openxmlformats-officedocument.themeOverride+xml"/>
  <ns0:Override PartName="/ppt/slides/slide27.xml" ContentType="application/vnd.openxmlformats-officedocument.presentationml.slide+xml"/>
  <ns0:Override PartName="/ppt/theme/themeOverride4_tf1.xml" ContentType="application/vnd.openxmlformats-officedocument.themeOverride+xml"/>
  <ns0:Override PartName="/ppt/slides/slide28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  <p:sldMasterId id="2147483651" r:id="rId2"/>
  </p:sldMasterIdLst>
  <p:notesMasterIdLst>
    <p:notesMasterId r:id="rId27"/>
  </p:notesMasterIdLst>
  <p:sldIdLst>
    <p:sldId id="256" r:id="rId33"/>
    <p:sldId id="257" r:id="rId34"/>
    <p:sldId id="258" r:id="rId35"/>
    <p:sldId id="259" r:id="rId3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1515"/>
    <a:srgbClr val="CB3737"/>
    <a:srgbClr val="6A005E"/>
    <a:srgbClr val="0B5AA8"/>
    <a:srgbClr val="006171"/>
    <a:srgbClr val="EEECE1"/>
    <a:srgbClr val="0097B0"/>
    <a:srgbClr val="6FD57F"/>
    <a:srgbClr val="8100FF"/>
    <a:srgbClr val="D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42" autoAdjust="0"/>
    <p:restoredTop sz="94660"/>
  </p:normalViewPr>
  <p:slideViewPr>
    <p:cSldViewPr snapToGrid="0">
      <p:cViewPr varScale="1">
        <p:scale>
          <a:sx n="82" d="100"/>
          <a:sy n="82" d="100"/>
        </p:scale>
        <p:origin x="8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2" Type="http://schemas.openxmlformats.org/officeDocument/2006/relationships/slideMaster" Target="slideMasters/slideMaster2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28" Type="http://schemas.openxmlformats.org/officeDocument/2006/relationships/tags" Target="tags/tag1.xml" /><Relationship Id="rId31" Type="http://schemas.openxmlformats.org/officeDocument/2006/relationships/theme" Target="theme/theme1.xml" /><Relationship Id="rId27" Type="http://schemas.openxmlformats.org/officeDocument/2006/relationships/notesMaster" Target="notesMasters/notesMaster1.xml" /><Relationship Id="rId30" Type="http://schemas.openxmlformats.org/officeDocument/2006/relationships/viewProps" Target="viewProps.xml" /><Relationship Id="rId33" Type="http://schemas.openxmlformats.org/officeDocument/2006/relationships/slide" Target="slides/slide25.xml" /><Relationship Id="rId34" Type="http://schemas.openxmlformats.org/officeDocument/2006/relationships/slide" Target="slides/slide26.xml" /><Relationship Id="rId35" Type="http://schemas.openxmlformats.org/officeDocument/2006/relationships/slide" Target="slides/slide27.xml" /><Relationship Id="rId36" Type="http://schemas.openxmlformats.org/officeDocument/2006/relationships/slide" Target="slides/slide28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0A44A-4D38-48A7-9D7C-ECFC6DB5196B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9C11C-D04B-4B83-A5E8-D873315BDD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5.xml" /></Relationship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本页用于呈现答辩主题和作者信息。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93BF-772A-4C92-B1DC-E6EFAA9B7E24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9130-EB6A-4866-830C-2DB68EFB30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360B2F-B883-42C3-804A-3A2B6FDA9534}"/>
              </a:ext>
            </a:extLst>
          </p:cNvPr>
          <p:cNvSpPr txBox="1"/>
          <p:nvPr userDrawn="1"/>
        </p:nvSpPr>
        <p:spPr>
          <a:xfrm>
            <a:off x="159385" y="6363081"/>
            <a:ext cx="2634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 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C93148-040C-477B-81EA-38124A4FBA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853" y="718788"/>
            <a:ext cx="6164292" cy="16551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93BF-772A-4C92-B1DC-E6EFAA9B7E24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9130-EB6A-4866-830C-2DB68EFB30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6950E6-FDDC-45B5-8EE9-B153D1340894}"/>
              </a:ext>
            </a:extLst>
          </p:cNvPr>
          <p:cNvSpPr txBox="1"/>
          <p:nvPr userDrawn="1"/>
        </p:nvSpPr>
        <p:spPr>
          <a:xfrm>
            <a:off x="159385" y="6363081"/>
            <a:ext cx="2634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 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4A00C2D1-52EA-48A4-AB83-83F509E4B8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3438" y="-287615"/>
            <a:ext cx="8005124" cy="800512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BF41C02-2D02-414D-A97B-2263C84AD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201C13-7ECC-4767-AD82-CD219A275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40E8FC-A673-44FA-AF40-B176B1BB5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D8905F-231C-4817-AC55-C59F644F6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8B5E92-0C68-446C-BCD7-6CA96EEA9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A49440-47D7-40AC-A517-5E3BD13A5FF2}"/>
              </a:ext>
            </a:extLst>
          </p:cNvPr>
          <p:cNvSpPr/>
          <p:nvPr userDrawn="1"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D4AFA84-305B-44CA-B081-04A32AF0FF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9088" y="-87116"/>
            <a:ext cx="6033824" cy="362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02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44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66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39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392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78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6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6645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285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3925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2565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057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3921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785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7"/>
            <a:ext cx="5386917" cy="639763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6645" indent="0">
              <a:buNone/>
              <a:defRPr sz="2160" b="1"/>
            </a:lvl3pPr>
            <a:lvl4pPr marL="1645285" indent="0">
              <a:buNone/>
              <a:defRPr sz="1920" b="1"/>
            </a:lvl4pPr>
            <a:lvl5pPr marL="2193925" indent="0">
              <a:buNone/>
              <a:defRPr sz="1920" b="1"/>
            </a:lvl5pPr>
            <a:lvl6pPr marL="2742565" indent="0">
              <a:buNone/>
              <a:defRPr sz="1920" b="1"/>
            </a:lvl6pPr>
            <a:lvl7pPr marL="3290570" indent="0">
              <a:buNone/>
              <a:defRPr sz="1920" b="1"/>
            </a:lvl7pPr>
            <a:lvl8pPr marL="3839210" indent="0">
              <a:buNone/>
              <a:defRPr sz="1920" b="1"/>
            </a:lvl8pPr>
            <a:lvl9pPr marL="4387850" indent="0">
              <a:buNone/>
              <a:defRPr sz="19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9" y="1535117"/>
            <a:ext cx="5389033" cy="639763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6645" indent="0">
              <a:buNone/>
              <a:defRPr sz="2160" b="1"/>
            </a:lvl3pPr>
            <a:lvl4pPr marL="1645285" indent="0">
              <a:buNone/>
              <a:defRPr sz="1920" b="1"/>
            </a:lvl4pPr>
            <a:lvl5pPr marL="2193925" indent="0">
              <a:buNone/>
              <a:defRPr sz="1920" b="1"/>
            </a:lvl5pPr>
            <a:lvl6pPr marL="2742565" indent="0">
              <a:buNone/>
              <a:defRPr sz="1920" b="1"/>
            </a:lvl6pPr>
            <a:lvl7pPr marL="3290570" indent="0">
              <a:buNone/>
              <a:defRPr sz="1920" b="1"/>
            </a:lvl7pPr>
            <a:lvl8pPr marL="3839210" indent="0">
              <a:buNone/>
              <a:defRPr sz="1920" b="1"/>
            </a:lvl8pPr>
            <a:lvl9pPr marL="4387850" indent="0">
              <a:buNone/>
              <a:defRPr sz="19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9" y="2174875"/>
            <a:ext cx="5389033" cy="3951288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B516C8-3EE8-4D01-BAA5-14D0CFACB39C}"/>
              </a:ext>
            </a:extLst>
          </p:cNvPr>
          <p:cNvSpPr txBox="1"/>
          <p:nvPr userDrawn="1"/>
        </p:nvSpPr>
        <p:spPr>
          <a:xfrm>
            <a:off x="159385" y="6363081"/>
            <a:ext cx="2634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惟真求新 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6645" indent="0">
              <a:buNone/>
              <a:defRPr sz="1200"/>
            </a:lvl3pPr>
            <a:lvl4pPr marL="1645285" indent="0">
              <a:buNone/>
              <a:defRPr sz="1080"/>
            </a:lvl4pPr>
            <a:lvl5pPr marL="2193925" indent="0">
              <a:buNone/>
              <a:defRPr sz="1080"/>
            </a:lvl5pPr>
            <a:lvl6pPr marL="2742565" indent="0">
              <a:buNone/>
              <a:defRPr sz="1080"/>
            </a:lvl6pPr>
            <a:lvl7pPr marL="3290570" indent="0">
              <a:buNone/>
              <a:defRPr sz="1080"/>
            </a:lvl7pPr>
            <a:lvl8pPr marL="3839210" indent="0">
              <a:buNone/>
              <a:defRPr sz="1080"/>
            </a:lvl8pPr>
            <a:lvl9pPr marL="4387850" indent="0">
              <a:buNone/>
              <a:defRPr sz="108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6645" indent="0">
              <a:buNone/>
              <a:defRPr sz="2880"/>
            </a:lvl3pPr>
            <a:lvl4pPr marL="1645285" indent="0">
              <a:buNone/>
              <a:defRPr sz="2400"/>
            </a:lvl4pPr>
            <a:lvl5pPr marL="2193925" indent="0">
              <a:buNone/>
              <a:defRPr sz="2400"/>
            </a:lvl5pPr>
            <a:lvl6pPr marL="2742565" indent="0">
              <a:buNone/>
              <a:defRPr sz="2400"/>
            </a:lvl6pPr>
            <a:lvl7pPr marL="3290570" indent="0">
              <a:buNone/>
              <a:defRPr sz="2400"/>
            </a:lvl7pPr>
            <a:lvl8pPr marL="3839210" indent="0">
              <a:buNone/>
              <a:defRPr sz="2400"/>
            </a:lvl8pPr>
            <a:lvl9pPr marL="4387850" indent="0">
              <a:buNone/>
              <a:defRPr sz="24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6645" indent="0">
              <a:buNone/>
              <a:defRPr sz="1200"/>
            </a:lvl3pPr>
            <a:lvl4pPr marL="1645285" indent="0">
              <a:buNone/>
              <a:defRPr sz="1080"/>
            </a:lvl4pPr>
            <a:lvl5pPr marL="2193925" indent="0">
              <a:buNone/>
              <a:defRPr sz="1080"/>
            </a:lvl5pPr>
            <a:lvl6pPr marL="2742565" indent="0">
              <a:buNone/>
              <a:defRPr sz="1080"/>
            </a:lvl6pPr>
            <a:lvl7pPr marL="3290570" indent="0">
              <a:buNone/>
              <a:defRPr sz="1080"/>
            </a:lvl7pPr>
            <a:lvl8pPr marL="3839210" indent="0">
              <a:buNone/>
              <a:defRPr sz="1080"/>
            </a:lvl8pPr>
            <a:lvl9pPr marL="4387850" indent="0">
              <a:buNone/>
              <a:defRPr sz="108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4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95926-3990-4CDE-B4DE-934157FCAB66}" type="slidenum">
              <a:rPr lang="en-US" smtClean="0">
                <a:solidFill>
                  <a:srgbClr val="FFFFFF">
                    <a:lumMod val="75000"/>
                    <a:alpha val="85000"/>
                  </a:srgbClr>
                </a:solidFill>
              </a:rPr>
              <a:t>‹#›</a:t>
            </a:fld>
            <a:endParaRPr lang="en-US" dirty="0">
              <a:solidFill>
                <a:srgbClr val="FFFFFF">
                  <a:lumMod val="75000"/>
                  <a:alpha val="8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CD21E796-F371-46FE-9DFB-C441527A35E0}" type="datetime1">
              <a:rPr lang="zh-CN" altLang="en-US"/>
              <a:t>2024/1/17</a:t>
            </a:fld>
            <a:endParaRPr lang="zh-CN" altLang="en-US" sz="168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6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6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3F6F2044-B2A5-4D81-A2D6-A754D1FE24D3}" type="slidenum">
              <a:rPr lang="zh-CN" altLang="en-US"/>
              <a:t>‹#›</a:t>
            </a:fld>
            <a:endParaRPr lang="zh-CN" altLang="en-US" sz="168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A93BF-772A-4C92-B1DC-E6EFAA9B7E24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F9130-EB6A-4866-830C-2DB68EFB30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5" r:id="rId3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11" tIns="45704" rIns="91411" bIns="45704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11" tIns="45704" rIns="91411" bIns="45704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65"/>
            <a:ext cx="28448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65"/>
            <a:ext cx="38608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65"/>
            <a:ext cx="28448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  <p:txStyles>
    <p:titleStyle>
      <a:lvl1pPr algn="ctr" defTabSz="1096645" rtl="0" eaLnBrk="1" latinLnBrk="0" hangingPunct="1"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1096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defTabSz="1096645" rtl="0" eaLnBrk="1" latinLnBrk="0" hangingPunct="1">
        <a:spcBef>
          <a:spcPct val="20000"/>
        </a:spcBef>
        <a:buFont typeface="Arial" panose="020B0604020202020204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0965" indent="-274320" algn="l" defTabSz="1096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19605" indent="-274320" algn="l" defTabSz="1096645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245" indent="-274320" algn="l" defTabSz="1096645" rtl="0" eaLnBrk="1" latinLnBrk="0" hangingPunct="1">
        <a:spcBef>
          <a:spcPct val="20000"/>
        </a:spcBef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6250" indent="-274320" algn="l" defTabSz="1096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4890" indent="-274320" algn="l" defTabSz="1096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3530" indent="-274320" algn="l" defTabSz="1096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2170" indent="-274320" algn="l" defTabSz="1096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664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28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392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256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057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3921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785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'1.0' encoding='utf-8'?>
<Relationships xmlns="http://schemas.openxmlformats.org/package/2006/relationships"><Relationship Id="rId2" Type="http://schemas.openxmlformats.org/officeDocument/2006/relationships/slideLayout" Target="../slideLayouts/slideLayout4.xml" /><Relationship Id="rId1" Type="http://schemas.openxmlformats.org/officeDocument/2006/relationships/themeOverride" Target="../theme/themeOverride1_tf1.xml" /><Relationship Id="rId4" Type="http://schemas.openxmlformats.org/officeDocument/2006/relationships/image" Target="../media/image4.png" /><Relationship Id="rId5" Type="http://schemas.openxmlformats.org/officeDocument/2006/relationships/notesSlide" Target="../notesSlides/notesSlide25.xml" /></Relationships>
</file>

<file path=ppt/slides/_rels/slide26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.xml" /><Relationship Id="rId1" Type="http://schemas.openxmlformats.org/officeDocument/2006/relationships/themeOverride" Target="../theme/themeOverride2_tf1.xml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27.xml.rels><?xml version='1.0' encoding='utf-8'?>
<Relationships xmlns="http://schemas.openxmlformats.org/package/2006/relationships"><Relationship Id="rId2" Type="http://schemas.openxmlformats.org/officeDocument/2006/relationships/slideLayout" Target="../slideLayouts/slideLayout3.xml" /><Relationship Id="rId1" Type="http://schemas.openxmlformats.org/officeDocument/2006/relationships/themeOverride" Target="../theme/themeOverride3_tf1.xml" /></Relationships>
</file>

<file path=ppt/slides/_rels/slide28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.xml" /><Relationship Id="rId1" Type="http://schemas.openxmlformats.org/officeDocument/2006/relationships/themeOverride" Target="../theme/themeOverride4_tf1.xml" /><Relationship Id="rId5" Type="http://schemas.openxmlformats.org/officeDocument/2006/relationships/image" Target="../media/image8.png" /><Relationship Id="rId4" Type="http://schemas.openxmlformats.org/officeDocument/2006/relationships/image" Target="../media/image7.png" /></Relationships>
</file>

<file path=ppt/slides/slide25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ns7="http://schemas.microsoft.com/office/powerpoint/2012/main" xmlns:p="http://schemas.openxmlformats.org/presentationml/2006/main" xmlns:p14="http://schemas.microsoft.com/office/powerpoint/2010/main" xmlns:r="http://schemas.openxmlformats.org/officeDocument/2006/relationships">
  <p:cSld>
    <p:bg>
      <p:bgPr>
        <a:pattFill prst="pct20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301729"/>
            <a:ext cx="12192000" cy="3298971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52690" y="2811398"/>
            <a:ext cx="98866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spc="-3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化合物活性预测研究</a:t>
            </a:r>
            <a:r>
              <a:rPr lang="en-US" altLang="zh-CN" sz="6600" b="1" spc="-3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/>
            </a:r>
            <a:r>
              <a:rPr lang="zh-CN" altLang="en-US" sz="6600" b="1" spc="-3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/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830287" y="4759051"/>
            <a:ext cx="306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计算机科学 李泽轩</a:t>
            </a:r>
            <a:r>
              <a:rPr lang="en-US" altLang="zh-CN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/>
            </a:r>
            <a:r>
              <a:rPr lang="zh-CN" altLang="en-US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/>
            </a:r>
            <a:r>
              <a:rPr lang="en-US" altLang="zh-CN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/>
            </a:r>
            <a:r>
              <a:rPr lang="zh-CN" altLang="en-US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/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75200" y="4286734"/>
            <a:ext cx="302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指导老师：XXX</a:t>
            </a:r>
          </a:p>
        </p:txBody>
      </p:sp>
      <p:sp>
        <p:nvSpPr>
          <p:cNvPr id="16" name="文本框 15">
            <a:extLst>
              <a:ext uri="{FF2B5EF4-FFF2-40B4-BE49-F238E27FC236}">
                <ns2:creationId id="{EFF8821D-969F-4C9C-B1D2-8EBBD1502544}"/>
              </a:ext>
            </a:extLst>
          </p:cNvPr>
          <p:cNvSpPr txBox="1"/>
          <p:nvPr/>
        </p:nvSpPr>
        <p:spPr>
          <a:xfrm>
            <a:off x="4411885" y="5904168"/>
            <a:ext cx="3368230" cy="6040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6000"/>
              </a:lnSpc>
            </a:pP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论文答辩 ——</a:t>
            </a:r>
            <a:r>
              <a:rPr lang="zh-CN" altLang="en-US" sz="2800" b="1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/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28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ns2:creationId id="{2917529B-2051-36DB-9A34-34A07CCE63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3404921" y="-417894"/>
            <a:ext cx="5382153" cy="3229292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mc:AlternateContent>
    <mc:Choice Requires="p15">
      <p:transition spd="slow" p14:dur="1250" advTm="3000">
        <ns7:prstTrans prst="pageCurlDouble"/>
      </p:transition>
    </mc:Choice>
    <mc:Fallback>
      <p:transition spd="slow" advTm="3000">
        <p:fade/>
      </p:transition>
    </mc:Fallback>
  </mc:AlternateContent>
</p:sld>
</file>

<file path=ppt/slides/slide26.xml><?xml version="1.0" encoding="utf-8"?>
<p:sld xmlns:a="http://schemas.openxmlformats.org/drawingml/2006/main" xmlns:mc="http://schemas.openxmlformats.org/markup-compatibility/2006" xmlns:ns3="http://schemas.microsoft.com/office/drawing/2010/main" xmlns:ns4="http://schemas.microsoft.com/office/drawing/2014/main" xmlns:ns7="http://schemas.microsoft.com/office/powerpoint/2012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2934" y="0"/>
            <a:ext cx="4680659" cy="685800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90327" y="720843"/>
            <a:ext cx="3062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solidFill>
                  <a:schemeClr val="accent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CONTENTS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/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290327" y="1912895"/>
            <a:ext cx="3218671" cy="584775"/>
            <a:chOff x="6588037" y="2227220"/>
            <a:chExt cx="3218671" cy="584775"/>
          </a:xfrm>
        </p:grpSpPr>
        <p:grpSp>
          <p:nvGrpSpPr>
            <p:cNvPr id="10" name="组合 9"/>
            <p:cNvGrpSpPr/>
            <p:nvPr/>
          </p:nvGrpSpPr>
          <p:grpSpPr>
            <a:xfrm>
              <a:off x="6588037" y="2227220"/>
              <a:ext cx="3218671" cy="584775"/>
              <a:chOff x="6588037" y="2227220"/>
              <a:chExt cx="3218671" cy="584775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588037" y="2227220"/>
                <a:ext cx="10207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01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7467606" y="2278143"/>
                <a:ext cx="233910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研究背景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18" name="直接连接符 17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6290327" y="2767134"/>
            <a:ext cx="3218671" cy="584775"/>
            <a:chOff x="6588037" y="2227220"/>
            <a:chExt cx="3218671" cy="584775"/>
          </a:xfrm>
        </p:grpSpPr>
        <p:grpSp>
          <p:nvGrpSpPr>
            <p:cNvPr id="22" name="组合 21"/>
            <p:cNvGrpSpPr/>
            <p:nvPr/>
          </p:nvGrpSpPr>
          <p:grpSpPr>
            <a:xfrm>
              <a:off x="6588037" y="2227220"/>
              <a:ext cx="3218671" cy="584775"/>
              <a:chOff x="6588037" y="2227220"/>
              <a:chExt cx="3218671" cy="584775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6588037" y="2227220"/>
                <a:ext cx="10207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02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7467606" y="2278143"/>
                <a:ext cx="233910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方法设计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23" name="直接连接符 22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6290327" y="3600109"/>
            <a:ext cx="3218671" cy="584775"/>
            <a:chOff x="6588037" y="2227220"/>
            <a:chExt cx="3218671" cy="584775"/>
          </a:xfrm>
        </p:grpSpPr>
        <p:grpSp>
          <p:nvGrpSpPr>
            <p:cNvPr id="27" name="组合 26"/>
            <p:cNvGrpSpPr/>
            <p:nvPr/>
          </p:nvGrpSpPr>
          <p:grpSpPr>
            <a:xfrm>
              <a:off x="6588037" y="2227220"/>
              <a:ext cx="3218671" cy="584775"/>
              <a:chOff x="6588037" y="2227220"/>
              <a:chExt cx="3218671" cy="584775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6588037" y="2227220"/>
                <a:ext cx="10207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03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7467606" y="2278143"/>
                <a:ext cx="233910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实验结果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28" name="直接连接符 27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>
            <a:off x="6290327" y="4433084"/>
            <a:ext cx="3218671" cy="646331"/>
            <a:chOff x="6588037" y="2227220"/>
            <a:chExt cx="3218671" cy="646331"/>
          </a:xfrm>
        </p:grpSpPr>
        <p:grpSp>
          <p:nvGrpSpPr>
            <p:cNvPr id="32" name="组合 31"/>
            <p:cNvGrpSpPr/>
            <p:nvPr/>
          </p:nvGrpSpPr>
          <p:grpSpPr>
            <a:xfrm>
              <a:off x="6588037" y="2227220"/>
              <a:ext cx="3218671" cy="646331"/>
              <a:chOff x="6588037" y="2227220"/>
              <a:chExt cx="3218671" cy="646331"/>
            </a:xfrm>
          </p:grpSpPr>
          <p:sp>
            <p:nvSpPr>
              <p:cNvPr id="34" name="文本框 33"/>
              <p:cNvSpPr txBox="1"/>
              <p:nvPr/>
            </p:nvSpPr>
            <p:spPr>
              <a:xfrm>
                <a:off x="6588037" y="2227220"/>
                <a:ext cx="10207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3600" b="1" dirty="0">
                    <a:solidFill>
                      <a:schemeClr val="accent1"/>
                    </a:solidFill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04</a:t>
                </a:r>
                <a:endParaRPr lang="zh-CN" altLang="en-US" sz="3600" b="1" dirty="0">
                  <a:solidFill>
                    <a:schemeClr val="accent1"/>
                  </a:solidFill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7467606" y="2278143"/>
                <a:ext cx="233910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总结展望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33" name="直接连接符 32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/>
        </p:nvGrpSpPr>
        <p:grpSpPr>
          <a:xfrm>
            <a:off x="6308177" y="5266059"/>
            <a:ext cx="2295341" cy="646331"/>
            <a:chOff x="6588037" y="2227220"/>
            <a:chExt cx="2295341" cy="646331"/>
          </a:xfrm>
        </p:grpSpPr>
        <p:grpSp>
          <p:nvGrpSpPr>
            <p:cNvPr id="45" name="组合 44"/>
            <p:cNvGrpSpPr/>
            <p:nvPr/>
          </p:nvGrpSpPr>
          <p:grpSpPr>
            <a:xfrm>
              <a:off x="6588037" y="2227220"/>
              <a:ext cx="2295341" cy="646331"/>
              <a:chOff x="6588037" y="2227220"/>
              <a:chExt cx="2295341" cy="646331"/>
            </a:xfrm>
          </p:grpSpPr>
          <p:sp>
            <p:nvSpPr>
              <p:cNvPr id="47" name="文本框 46"/>
              <p:cNvSpPr txBox="1"/>
              <p:nvPr/>
            </p:nvSpPr>
            <p:spPr>
              <a:xfrm>
                <a:off x="6588037" y="2227220"/>
                <a:ext cx="10207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3600" b="1" dirty="0">
                    <a:solidFill>
                      <a:schemeClr val="accent1"/>
                    </a:solidFill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05</a:t>
                </a:r>
                <a:endParaRPr lang="zh-CN" altLang="en-US" sz="3600" b="1" dirty="0">
                  <a:solidFill>
                    <a:schemeClr val="accent1"/>
                  </a:solidFill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7467606" y="2278143"/>
                <a:ext cx="14157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致谢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46" name="直接连接符 45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1235490" y="2077686"/>
            <a:ext cx="1905000" cy="1905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ns4:creationId id="{4943E764-F056-44B1-98A9-CD15450421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ns3:useLocalDpi val="0"/>
              </a:ext>
            </a:extLst>
          </a:blip>
          <a:srcRect/>
          <a:stretch/>
        </p:blipFill>
        <p:spPr>
          <a:xfrm>
            <a:off x="375348" y="-170481"/>
            <a:ext cx="3816037" cy="2460105"/>
          </a:xfrm>
          <a:prstGeom prst="rect">
            <a:avLst/>
          </a:prstGeom>
        </p:spPr>
      </p:pic>
    </p:spTree>
  </p:cSld>
  <p:clrMapOvr>
    <a:masterClrMapping/>
  </p:clrMapOvr>
  <mc:AlternateContent>
    <mc:Choice Requires="p15">
      <p:transition spd="slow" p14:dur="1250" advTm="3000">
        <ns7:prstTrans prst="pageCurlDouble"/>
      </p:transition>
    </mc:Choice>
    <mc:Fallback>
      <p:transition spd="slow" advTm="3000">
        <p:fade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mc="http://schemas.openxmlformats.org/markup-compatibility/2006" xmlns:ns4="http://schemas.microsoft.com/office/powerpoint/2012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/>
          <p:cNvSpPr/>
          <p:nvPr/>
        </p:nvSpPr>
        <p:spPr>
          <a:xfrm>
            <a:off x="2965173" y="2922324"/>
            <a:ext cx="6261654" cy="1348631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>
                <a:lumMod val="10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61570" y="3271730"/>
            <a:ext cx="41088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1.  研究背景</a:t>
            </a:r>
            <a:r>
              <a:rPr lang="en-US" altLang="zh-CN" sz="36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/>
            </a:r>
            <a:r>
              <a:rPr lang="zh-CN" altLang="en-US" sz="36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/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/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p:transition p14:dur="500">
    <p:fade/>
  </p:transition>
  <mc:AlternateContent>
    <mc:Choice Requires="p15">
      <p:transition spd="slow" p14:dur="1250" advTm="3000">
        <ns4:prstTrans prst="pageCurlDouble"/>
      </p:transition>
    </mc:Choice>
    <mc:Fallback>
      <p:transition spd="slow" advTm="3000">
        <p:fade/>
      </p:transition>
    </mc:Fallback>
  </mc:AlternateContent>
</p:sld>
</file>

<file path=ppt/slides/slide28.xml><?xml version="1.0" encoding="utf-8"?>
<p:sld xmlns:a="http://schemas.openxmlformats.org/drawingml/2006/main" xmlns:mc="http://schemas.openxmlformats.org/markup-compatibility/2006" xmlns:ns3="http://schemas.microsoft.com/office/drawing/2010/main" xmlns:ns6="http://schemas.microsoft.com/office/powerpoint/2012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415013" y="503442"/>
            <a:ext cx="4197627" cy="750211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accent1">
              <a:lumMod val="100000"/>
            </a:schemeClr>
          </a:solidFill>
          <a:ln w="38100">
            <a:solidFill>
              <a:schemeClr val="accent1">
                <a:lumMod val="10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000" b="1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83360" y="1981200"/>
            <a:ext cx="2651760" cy="164592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2533015" y="2219265"/>
            <a:ext cx="674370" cy="6743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259826" y="3059370"/>
            <a:ext cx="1255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问题</a:t>
            </a:r>
          </a:p>
        </p:txBody>
      </p:sp>
      <p:sp>
        <p:nvSpPr>
          <p:cNvPr id="7" name="矩形 6"/>
          <p:cNvSpPr/>
          <p:nvPr/>
        </p:nvSpPr>
        <p:spPr>
          <a:xfrm>
            <a:off x="4135120" y="1981200"/>
            <a:ext cx="6309360" cy="164592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10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83360" y="4094480"/>
            <a:ext cx="2651760" cy="164592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2533015" y="4332545"/>
            <a:ext cx="674370" cy="6743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59826" y="5172650"/>
            <a:ext cx="1255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方法</a:t>
            </a:r>
          </a:p>
        </p:txBody>
      </p:sp>
      <p:sp>
        <p:nvSpPr>
          <p:cNvPr id="11" name="矩形 10"/>
          <p:cNvSpPr/>
          <p:nvPr/>
        </p:nvSpPr>
        <p:spPr>
          <a:xfrm>
            <a:off x="4135120" y="4094480"/>
            <a:ext cx="6309360" cy="164592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10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43095" y="2410398"/>
            <a:ext cx="5859145" cy="787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药物发现周期长、成本高，虚拟筛选可降低早期试错成本。</a:t>
            </a:r>
            <a:endParaRPr lang="en-US" altLang="zh-CN" sz="1600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/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443094" y="4523678"/>
            <a:ext cx="5859145" cy="787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机器学习可从分子描述符中学习结构与活性之间的关系。</a:t>
            </a:r>
            <a:endParaRPr lang="en-US" altLang="zh-CN" sz="1600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/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577941" y="569481"/>
            <a:ext cx="618131" cy="618131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359000" y="647713"/>
            <a:ext cx="20104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1.1  研究背景</a:t>
            </a:r>
            <a:r>
              <a:rPr lang="zh-CN" altLang="en-US" sz="2400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/>
            </a:r>
            <a:endParaRPr lang="zh-CN" altLang="en-US" sz="2400" dirty="0">
              <a:solidFill>
                <a:schemeClr val="bg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p:transition p14:dur="500">
    <p:fade/>
  </p:transition>
  <mc:AlternateContent>
    <mc:Choice Requires="p15">
      <p:transition spd="slow" p14:dur="1250" advTm="3000">
        <ns6:prstTrans prst="pageCurlDouble"/>
      </p:transition>
    </mc:Choice>
    <mc:Fallback>
      <p:transition spd="slow" advTm="300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  <p:tag name="COMMONDATA" val="eyJoZGlkIjoiMWE5M2Q3YTk2NzExM2ViYmM0ZjRmYzRhOWQ2NWVkYz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13A89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13A89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rgbClr val="46A49B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_tf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_tf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_tf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_tf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3A89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1909</Words>
  <Application>Microsoft Office PowerPoint</Application>
  <PresentationFormat>宽屏</PresentationFormat>
  <Paragraphs>222</Paragraphs>
  <Slides>24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等线</vt:lpstr>
      <vt:lpstr>等线 Light</vt:lpstr>
      <vt:lpstr>黑体</vt:lpstr>
      <vt:lpstr>华文行楷</vt:lpstr>
      <vt:lpstr>微软雅黑</vt:lpstr>
      <vt:lpstr>字魂105号-简雅黑</vt:lpstr>
      <vt:lpstr>Arial</vt:lpstr>
      <vt:lpstr>Calibri</vt:lpstr>
      <vt:lpstr>Wingdings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cby</dc:creator>
  <cp:lastModifiedBy>dell</cp:lastModifiedBy>
  <cp:revision>328</cp:revision>
  <dcterms:created xsi:type="dcterms:W3CDTF">2019-01-04T06:52:00Z</dcterms:created>
  <dcterms:modified xsi:type="dcterms:W3CDTF">2024-01-17T06:51:52Z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237DCB3431844964878D453DA433BCD1_12</vt:lpwstr>
  </property>
  <property fmtid="{D5CDD505-2E9C-101B-9397-08002B2CF9AE}" pid="3" name="KSOProductBuildVer">
    <vt:lpwstr>2052-12.1.0.15712</vt:lpwstr>
  </property>
</Properties>
</file>